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4" r:id="rId3"/>
    <p:sldId id="268" r:id="rId4"/>
    <p:sldId id="269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826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</a:rPr>
              <a:t>HEXAWARE  |  CAPSTONE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Retail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of Turning Data Chaos into Business Intelligence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2926080" cy="822960"/>
          </a:xfrm>
          <a:prstGeom prst="rect">
            <a:avLst/>
          </a:prstGeom>
          <a:solidFill>
            <a:srgbClr val="1622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931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LAKSHYA 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FAEC6"/>
                </a:solidFill>
              </a:rPr>
              <a:t>Hexaware Technologies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0"/>
            <a:ext cx="548640" cy="548640"/>
          </a:xfrm>
          <a:prstGeom prst="rect">
            <a:avLst/>
          </a:prstGeom>
        </p:spPr>
      </p:pic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645920"/>
            <a:ext cx="548640" cy="54864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24688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4D8"/>
                </a:solidFill>
              </a:rPr>
              <a:t>01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</a:rPr>
              <a:t>SOLUTION OUTLINE — TOOLS &amp; KEY TASKS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LAYER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011680" y="7772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69080" y="7772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TASKS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170432"/>
            <a:ext cx="8595360" cy="457200"/>
          </a:xfrm>
          <a:prstGeom prst="rect">
            <a:avLst/>
          </a:prstGeom>
          <a:solidFill>
            <a:srgbClr val="16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704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Ingestion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0" y="11704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</a:rPr>
              <a:t>Azure Data Factory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69080" y="117043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Incremental ingestion via watermark; parameterized pipelines; metadata logging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8595360" cy="457200"/>
          </a:xfrm>
          <a:prstGeom prst="rect">
            <a:avLst/>
          </a:prstGeom>
          <a:solidFill>
            <a:srgbClr val="0F1B2D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Profiling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</a:rPr>
              <a:t>Pandas, PySpark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69080" y="16459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Data quality checks, null identification, duplicate detection, outlier analysis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121408"/>
            <a:ext cx="8595360" cy="457200"/>
          </a:xfrm>
          <a:prstGeom prst="rect">
            <a:avLst/>
          </a:prstGeom>
          <a:solidFill>
            <a:srgbClr val="16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214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Cleaning &amp; Transform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21214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</a:rPr>
              <a:t>Databricks (PySpark)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69080" y="212140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Deterministic deduplication; standardize formats; derive net_sales, gross_margin, OVB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596896"/>
            <a:ext cx="8595360" cy="457200"/>
          </a:xfrm>
          <a:prstGeom prst="rect">
            <a:avLst/>
          </a:prstGeom>
          <a:solidFill>
            <a:srgbClr val="0F1B2D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9689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Storage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11680" y="25968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</a:rPr>
              <a:t>Delta Lake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69080" y="259689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Bronze / Silver / Gold layers with partitioning by order_date and channel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072384"/>
            <a:ext cx="8595360" cy="457200"/>
          </a:xfrm>
          <a:prstGeom prst="rect">
            <a:avLst/>
          </a:prstGeom>
          <a:solidFill>
            <a:srgbClr val="16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07238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Orchestration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11680" y="307238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</a:rPr>
              <a:t>Apache Airflow + ADF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69080" y="307238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Airflow DAG with task dependencies, retry config, SLA monitoring; ADF cloud-native ingestion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547872"/>
            <a:ext cx="8595360" cy="457200"/>
          </a:xfrm>
          <a:prstGeom prst="rect">
            <a:avLst/>
          </a:prstGeom>
          <a:solidFill>
            <a:srgbClr val="0F1B2D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5478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CI/CD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011680" y="35478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</a:rPr>
              <a:t>Git + CI/CD Pipeline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069080" y="354787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Version control for notebooks, DAGs, SQL scripts, ADF templates; DEV → TEST → PROD promotion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023360"/>
            <a:ext cx="8595360" cy="457200"/>
          </a:xfrm>
          <a:prstGeom prst="rect">
            <a:avLst/>
          </a:prstGeom>
          <a:solidFill>
            <a:srgbClr val="162236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023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Validation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011680" y="40233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</a:rPr>
              <a:t>PySpark Tests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69080" y="40233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Executable business rule checks, reject tables, rule logging (qty&gt;0, price&gt;=cost)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4498848"/>
            <a:ext cx="8595360" cy="457200"/>
          </a:xfrm>
          <a:prstGeom prst="rect">
            <a:avLst/>
          </a:prstGeom>
          <a:solidFill>
            <a:srgbClr val="0F1B2D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49884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A261"/>
                </a:solidFill>
              </a:rPr>
              <a:t>Monitoring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011680" y="44988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</a:rPr>
              <a:t>Airflow + Alerting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69080" y="449884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DAG failure alerts, Slack/email notifications, SLA breach detection, retry exhaustion tracking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4D8"/>
                </a:solidFill>
              </a:rPr>
              <a:t>09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300" dirty="0">
                <a:solidFill>
                  <a:srgbClr val="FFFFFF"/>
                </a:solidFill>
              </a:rPr>
              <a:t>DATA CLEANING INSIGHTS  (1 of 2)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</a:rPr>
              <a:t>19 cleaning operations applied across Sales, Product, Customer &amp; Inventory datasets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160520" cy="685800"/>
          </a:xfrm>
          <a:prstGeom prst="rect">
            <a:avLst/>
          </a:prstGeom>
          <a:solidFill>
            <a:srgbClr val="162236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384048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1353312"/>
            <a:ext cx="374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2070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Duplicate Removal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1490472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FAEC6"/>
                </a:solidFill>
              </a:rPr>
              <a:t>Identified &amp; removed duplicate transaction entries in Sales dataset — 500 records — to prevent artificial revenue inflation.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4160520" cy="685800"/>
          </a:xfrm>
          <a:prstGeom prst="rect">
            <a:avLst/>
          </a:prstGeom>
          <a:solidFill>
            <a:srgbClr val="162236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938528"/>
            <a:ext cx="38404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" y="2121408"/>
            <a:ext cx="374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197510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Stock-on-Hand Correction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258568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FAEC6"/>
                </a:solidFill>
              </a:rPr>
              <a:t>Converted negative inventory values to 0. Negative stock (e.g. -5 shirts) is a system sync error, not a real state.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706624"/>
            <a:ext cx="4160520" cy="685800"/>
          </a:xfrm>
          <a:prstGeom prst="rect">
            <a:avLst/>
          </a:prstGeom>
          <a:solidFill>
            <a:srgbClr val="162236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706624"/>
            <a:ext cx="384048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" y="2889504"/>
            <a:ext cx="374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27432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Inventory Sync Error Flag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026664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FAEC6"/>
                </a:solidFill>
              </a:rPr>
              <a:t>Added inventory_sync_error flag to mark records where stock_on_hand was originally negative for downstream traceability.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474720"/>
            <a:ext cx="4160520" cy="685800"/>
          </a:xfrm>
          <a:prstGeom prst="rect">
            <a:avLst/>
          </a:prstGeom>
          <a:solidFill>
            <a:srgbClr val="162236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474720"/>
            <a:ext cx="384048" cy="6858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" y="3657600"/>
            <a:ext cx="374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51129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Zero-Price Resolution (3-Tier)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794760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FAEC6"/>
                </a:solidFill>
              </a:rPr>
              <a:t>Fixed $0.00 unit prices (50 records): (1) Lookup from Product_Master, (2) Gold-tier $0.00 replaced by master_selling_price, (3) Category Avg Selling Price imputed for rest.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4242816"/>
            <a:ext cx="4160520" cy="685800"/>
          </a:xfrm>
          <a:prstGeom prst="rect">
            <a:avLst/>
          </a:prstGeom>
          <a:solidFill>
            <a:srgbClr val="162236"/>
          </a:solidFill>
          <a:ln w="10160">
            <a:solidFill>
              <a:srgbClr val="90E0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242816"/>
            <a:ext cx="384048" cy="68580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" y="4425696"/>
            <a:ext cx="374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2793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Missing Unit Price Fix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1520" y="4562856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FAEC6"/>
                </a:solidFill>
              </a:rPr>
              <a:t>Identified &amp; corrected 13 transactions with missing unit prices by cross-referencing the Gold-layer Product Master.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09160" y="1170432"/>
            <a:ext cx="4160520" cy="685800"/>
          </a:xfrm>
          <a:prstGeom prst="rect">
            <a:avLst/>
          </a:prstGeom>
          <a:solidFill>
            <a:srgbClr val="162236"/>
          </a:solidFill>
          <a:ln w="10160">
            <a:solidFill>
              <a:srgbClr val="E6394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1170432"/>
            <a:ext cx="384048" cy="6858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1353312"/>
            <a:ext cx="374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66360" y="12070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 City Change Check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166360" y="1490472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FAEC6"/>
                </a:solidFill>
              </a:rPr>
              <a:t>Checked for records where customers changed cities but maintained the same customer_id — flagged for data governance review.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1938528"/>
            <a:ext cx="4160520" cy="685800"/>
          </a:xfrm>
          <a:prstGeom prst="rect">
            <a:avLst/>
          </a:prstGeom>
          <a:solidFill>
            <a:srgbClr val="162236"/>
          </a:solidFill>
          <a:ln w="10160">
            <a:solidFill>
              <a:srgbClr val="F4A2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1938528"/>
            <a:ext cx="384048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2121408"/>
            <a:ext cx="374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66360" y="197510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Missing Age Imputation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66360" y="2258568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FAEC6"/>
                </a:solidFill>
              </a:rPr>
              <a:t>Imputed Age = 43 (median) for 200 records with missing customer demographic data to preserve analytical completeness.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2706624"/>
            <a:ext cx="4160520" cy="685800"/>
          </a:xfrm>
          <a:prstGeom prst="rect">
            <a:avLst/>
          </a:prstGeom>
          <a:solidFill>
            <a:srgbClr val="162236"/>
          </a:solidFill>
          <a:ln w="10160">
            <a:solidFill>
              <a:srgbClr val="2ECC7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2706624"/>
            <a:ext cx="384048" cy="6858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2889504"/>
            <a:ext cx="374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66360" y="27432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Loyalty Status Standardization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66360" y="3026664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FAEC6"/>
                </a:solidFill>
              </a:rPr>
              <a:t>Standardized loyalty_status: 'None' and 'Walk-in' customers categorized as 'Standard' — clean baseline vs Gold/Silver tiers.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09160" y="3474720"/>
            <a:ext cx="4160520" cy="685800"/>
          </a:xfrm>
          <a:prstGeom prst="rect">
            <a:avLst/>
          </a:prstGeom>
          <a:solidFill>
            <a:srgbClr val="162236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3474720"/>
            <a:ext cx="38404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3657600"/>
            <a:ext cx="374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166360" y="351129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Return Events Preserved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66360" y="3794760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FAEC6"/>
                </a:solidFill>
              </a:rPr>
              <a:t>Maintained negative quantity records (e.g. -5) as legitimate Return Events — 50 found. Flagged as 'return' rather than removed.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09160" y="4242816"/>
            <a:ext cx="4160520" cy="685800"/>
          </a:xfrm>
          <a:prstGeom prst="rect">
            <a:avLst/>
          </a:prstGeom>
          <a:solidFill>
            <a:srgbClr val="162236"/>
          </a:solidFill>
          <a:ln w="10160">
            <a:solidFill>
              <a:srgbClr val="90E0E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4242816"/>
            <a:ext cx="384048" cy="68580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18304" y="4425696"/>
            <a:ext cx="3749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166360" y="42793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 Amount Anomaly Fix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166360" y="4562856"/>
            <a:ext cx="362102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8FAEC6"/>
                </a:solidFill>
              </a:rPr>
              <a:t>251,502 records had mismatched total_amount vs calculated value. After minimal cleaning, reduced to 50 remaining anomalies.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4D8"/>
                </a:solidFill>
              </a:rPr>
              <a:t>13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300" dirty="0">
                <a:solidFill>
                  <a:srgbClr val="FFFFFF"/>
                </a:solidFill>
              </a:rPr>
              <a:t>DATA CLEANING INSIGHTS  (2 of 2)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816352" cy="1298448"/>
          </a:xfrm>
          <a:prstGeom prst="rect">
            <a:avLst/>
          </a:prstGeom>
          <a:solidFill>
            <a:srgbClr val="162236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2816352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B2D"/>
                </a:solidFill>
              </a:rPr>
              <a:t>11.  Anomaly Reduction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EC6"/>
                </a:solidFill>
              </a:rPr>
              <a:t>After performing minimal targeted cleaning, total amount anomalies reduced from 251,502 down to just 50 remaining records.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18688" y="804672"/>
            <a:ext cx="2816352" cy="1298448"/>
          </a:xfrm>
          <a:prstGeom prst="rect">
            <a:avLst/>
          </a:prstGeom>
          <a:solidFill>
            <a:srgbClr val="16223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18688" y="804672"/>
            <a:ext cx="2816352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804672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B2D"/>
                </a:solidFill>
              </a:rPr>
              <a:t>12.  Loss-Making SKU Flagging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10128" y="117043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EC6"/>
                </a:solidFill>
              </a:rPr>
              <a:t>10 records found where Cost Price &gt; Selling Price (e.g. bread, milk). Not removed — flagged with is_loss_making indicator.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08776" y="804672"/>
            <a:ext cx="2816352" cy="1298448"/>
          </a:xfrm>
          <a:prstGeom prst="rect">
            <a:avLst/>
          </a:prstGeom>
          <a:solidFill>
            <a:srgbClr val="162236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08776" y="804672"/>
            <a:ext cx="2816352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804672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B2D"/>
                </a:solidFill>
              </a:rPr>
              <a:t>13.  Reorder Level Flagging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00216" y="117043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EC6"/>
                </a:solidFill>
              </a:rPr>
              <a:t>Flagged all inventory rows where stock_on_hand &lt; reorder_level with a reorder_required flag for supply chain alerting.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2231136"/>
            <a:ext cx="2816352" cy="1298448"/>
          </a:xfrm>
          <a:prstGeom prst="rect">
            <a:avLst/>
          </a:prstGeom>
          <a:solidFill>
            <a:srgbClr val="1622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231136"/>
            <a:ext cx="2816352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231136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B2D"/>
                </a:solidFill>
              </a:rPr>
              <a:t>14.  Timestamp Standardization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2596896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EC6"/>
                </a:solidFill>
              </a:rPr>
              <a:t>Applied timestamp conversion to transform date fields stored as strings into proper datetime format for consistent querying.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18688" y="2231136"/>
            <a:ext cx="2816352" cy="1298448"/>
          </a:xfrm>
          <a:prstGeom prst="rect">
            <a:avLst/>
          </a:prstGeom>
          <a:solidFill>
            <a:srgbClr val="162236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8688" y="2231136"/>
            <a:ext cx="2816352" cy="320040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231136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B2D"/>
                </a:solidFill>
              </a:rPr>
              <a:t>15.  Time-Travel Anomaly Flag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0128" y="2596896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EC6"/>
                </a:solidFill>
              </a:rPr>
              <a:t>2,517 records found with purchases made before the view creation date. Retained for financial auditing — flagged as time_travel_anomaly.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08776" y="2231136"/>
            <a:ext cx="2816352" cy="1298448"/>
          </a:xfrm>
          <a:prstGeom prst="rect">
            <a:avLst/>
          </a:prstGeom>
          <a:solidFill>
            <a:srgbClr val="16223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08776" y="2231136"/>
            <a:ext cx="2816352" cy="32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2231136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B2D"/>
                </a:solidFill>
              </a:rPr>
              <a:t>16.  City/State Mapping Correction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0216" y="2596896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EC6"/>
                </a:solidFill>
              </a:rPr>
              <a:t>Invalid city names replaced. Records where different states were incorrectly mapped to the same city were corrected.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657600"/>
            <a:ext cx="2816352" cy="1298448"/>
          </a:xfrm>
          <a:prstGeom prst="rect">
            <a:avLst/>
          </a:prstGeom>
          <a:solidFill>
            <a:srgbClr val="162236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3657600"/>
            <a:ext cx="2816352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657600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B2D"/>
                </a:solidFill>
              </a:rPr>
              <a:t>17.  Future Date Check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" y="40233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EC6"/>
                </a:solidFill>
              </a:rPr>
              <a:t>Checked the dataset for future-dated transaction records to detect data entry errors and pipeline ingestion anomalies.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18688" y="3657600"/>
            <a:ext cx="2816352" cy="1298448"/>
          </a:xfrm>
          <a:prstGeom prst="rect">
            <a:avLst/>
          </a:prstGeom>
          <a:solidFill>
            <a:srgbClr val="162236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18688" y="3657600"/>
            <a:ext cx="2816352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3657600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B2D"/>
                </a:solidFill>
              </a:rPr>
              <a:t>18.  Outdated Product Records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10128" y="40233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EC6"/>
                </a:solidFill>
              </a:rPr>
              <a:t>Checked if product details were last updated more than 2 years ago — identified outdated records and older product entries.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08776" y="3657600"/>
            <a:ext cx="2816352" cy="1298448"/>
          </a:xfrm>
          <a:prstGeom prst="rect">
            <a:avLst/>
          </a:prstGeom>
          <a:solidFill>
            <a:srgbClr val="1622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08776" y="3657600"/>
            <a:ext cx="2816352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0216" y="3657600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1B2D"/>
                </a:solidFill>
              </a:rPr>
              <a:t>19.  Discount &gt; 100% Check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00216" y="402336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EC6"/>
                </a:solidFill>
              </a:rPr>
              <a:t>Validated all discount fields — records with discount values exceeding 100% were identified as data quality violations and flagged.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solidFill>
            <a:srgbClr val="162236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6817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EC6"/>
                </a:solidFill>
              </a:rPr>
              <a:t>Total Cleaning Operations: </a:t>
            </a:r>
            <a:r>
              <a:rPr lang="en-US" sz="1100" b="1" dirty="0">
                <a:solidFill>
                  <a:srgbClr val="00B4D8"/>
                </a:solidFill>
              </a:rPr>
              <a:t>19  </a:t>
            </a:r>
            <a:r>
              <a:rPr lang="en-US" sz="900" dirty="0">
                <a:solidFill>
                  <a:srgbClr val="8FAEC6"/>
                </a:solidFill>
              </a:rPr>
              <a:t>  |  Records De-duped: </a:t>
            </a:r>
            <a:r>
              <a:rPr lang="en-US" sz="1100" b="1" dirty="0">
                <a:solidFill>
                  <a:srgbClr val="F4A261"/>
                </a:solidFill>
              </a:rPr>
              <a:t>500  </a:t>
            </a:r>
            <a:r>
              <a:rPr lang="en-US" sz="900" dirty="0">
                <a:solidFill>
                  <a:srgbClr val="8FAEC6"/>
                </a:solidFill>
              </a:rPr>
              <a:t>  |  Zero-Price Fixed: </a:t>
            </a:r>
            <a:r>
              <a:rPr lang="en-US" sz="1100" b="1" dirty="0">
                <a:solidFill>
                  <a:srgbClr val="2ECC71"/>
                </a:solidFill>
              </a:rPr>
              <a:t>50+13  </a:t>
            </a:r>
            <a:r>
              <a:rPr lang="en-US" sz="900" dirty="0">
                <a:solidFill>
                  <a:srgbClr val="8FAEC6"/>
                </a:solidFill>
              </a:rPr>
              <a:t>  |  Return Events Flagged: </a:t>
            </a:r>
            <a:r>
              <a:rPr lang="en-US" sz="1100" b="1" dirty="0">
                <a:solidFill>
                  <a:srgbClr val="90E0EF"/>
                </a:solidFill>
              </a:rPr>
              <a:t>50  </a:t>
            </a:r>
            <a:r>
              <a:rPr lang="en-US" sz="900" dirty="0">
                <a:solidFill>
                  <a:srgbClr val="8FAEC6"/>
                </a:solidFill>
              </a:rPr>
              <a:t>  |  Time-Travel Flagged: </a:t>
            </a:r>
            <a:r>
              <a:rPr lang="en-US" sz="1100" b="1" dirty="0">
                <a:solidFill>
                  <a:srgbClr val="E63946"/>
                </a:solidFill>
              </a:rPr>
              <a:t>2,517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412480" y="43434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4D8"/>
                </a:solidFill>
              </a:rPr>
              <a:t>14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FFFF"/>
                </a:solidFill>
              </a:rPr>
              <a:t>BUSINESS CONTEXT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</a:rPr>
              <a:t>Key Stakeholders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2984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Merchandising Teams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15819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EC6"/>
                </a:solidFill>
              </a:rPr>
              <a:t>Product performance &amp; pricing insights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066544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19933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Marketing Teams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77240" y="22768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EC6"/>
                </a:solidFill>
              </a:rPr>
              <a:t>Campaign effectiveness &amp; segmentation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76148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26883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Supply Chain Teams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777240" y="29718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EC6"/>
                </a:solidFill>
              </a:rPr>
              <a:t>Inventory optimization &amp; stock-out prevention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456432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240" y="33832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Store Operations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777240" y="36667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EC6"/>
                </a:solidFill>
              </a:rPr>
              <a:t>Store-level performance &amp; footfall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151376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77240" y="40782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Leadership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777240" y="436168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EC6"/>
                </a:solidFill>
              </a:rPr>
              <a:t>Revenue, growth &amp; profitability dashboards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4572000" y="822960"/>
            <a:ext cx="0" cy="420624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484632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Platform Must-Haves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4846320" y="1280160"/>
            <a:ext cx="4023360" cy="493776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6048" y="1344168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49240" y="1325880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Integrate POS, E-commerce, CRM &amp; Inventory systems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4846320" y="1883664"/>
            <a:ext cx="4023360" cy="493776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6048" y="1947672"/>
            <a:ext cx="292608" cy="29260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49240" y="1929384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Handle structured &amp; semi-structured data formats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4846320" y="2487168"/>
            <a:ext cx="4023360" cy="493776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6048" y="2551176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349240" y="2532888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Support batch &amp; near real-time ingestion pipelines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4846320" y="3090672"/>
            <a:ext cx="4023360" cy="493776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</p:spPr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154680"/>
            <a:ext cx="292608" cy="29260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349240" y="3136392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Enable self-service analytics &amp; BI dashboards</a:t>
            </a:r>
            <a:endParaRPr lang="en-US" sz="1000" dirty="0"/>
          </a:p>
        </p:txBody>
      </p:sp>
      <p:sp>
        <p:nvSpPr>
          <p:cNvPr id="34" name="Shape 23"/>
          <p:cNvSpPr/>
          <p:nvPr/>
        </p:nvSpPr>
        <p:spPr>
          <a:xfrm>
            <a:off x="4846320" y="3694176"/>
            <a:ext cx="4023360" cy="493776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</p:spPr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6048" y="3758184"/>
            <a:ext cx="292608" cy="292608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349240" y="3739896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Be scalable, reliable &amp; fully cloud-native</a:t>
            </a:r>
            <a:endParaRPr lang="en-US" sz="1000" dirty="0"/>
          </a:p>
        </p:txBody>
      </p:sp>
      <p:sp>
        <p:nvSpPr>
          <p:cNvPr id="37" name="Shape 25"/>
          <p:cNvSpPr/>
          <p:nvPr/>
        </p:nvSpPr>
        <p:spPr>
          <a:xfrm>
            <a:off x="4846320" y="4297680"/>
            <a:ext cx="4023360" cy="493776"/>
          </a:xfrm>
          <a:prstGeom prst="rect">
            <a:avLst/>
          </a:prstGeom>
          <a:solidFill>
            <a:srgbClr val="162236"/>
          </a:solidFill>
          <a:ln w="6350">
            <a:solidFill>
              <a:srgbClr val="00B4D8"/>
            </a:solidFill>
            <a:prstDash val="solid"/>
          </a:ln>
        </p:spPr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56048" y="4361688"/>
            <a:ext cx="292608" cy="29260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5349240" y="4343400"/>
            <a:ext cx="3429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Enforce data quality, monitoring &amp; alerting</a:t>
            </a:r>
            <a:endParaRPr lang="en-US" sz="1000" dirty="0"/>
          </a:p>
        </p:txBody>
      </p:sp>
      <p:sp>
        <p:nvSpPr>
          <p:cNvPr id="40" name="Text 27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4D8"/>
                </a:solidFill>
              </a:rPr>
              <a:t>04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0F1B2D"/>
                </a:solidFill>
              </a:rPr>
              <a:t>PROJECT OBJECTIVES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</a:rPr>
              <a:t>Build an end-to-end modern data analytics platform that delivers reliable, real-time &amp; historical insights.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60520" cy="1097280"/>
          </a:xfrm>
          <a:prstGeom prst="rect">
            <a:avLst/>
          </a:prstGeom>
          <a:solidFill>
            <a:srgbClr val="162236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371600"/>
            <a:ext cx="73152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46304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325880" y="14356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Automated Ingestion Pipeline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8912" y="18745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Ingest raw retail data from multiple sources using incremental ingestion patterns with watermark-based tracking via Azure Data Factory.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09160" y="1371600"/>
            <a:ext cx="4160520" cy="1097280"/>
          </a:xfrm>
          <a:prstGeom prst="rect">
            <a:avLst/>
          </a:prstGeom>
          <a:solidFill>
            <a:srgbClr val="162236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371600"/>
            <a:ext cx="73152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46304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76088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</a:rPr>
              <a:t>02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5760720" y="143560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Medallion Architecture (Delta Lake)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873752" y="187452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Store curated data in Bronze / Silver / Gold layers with proper partitioning by order_date and channel for optimized queries.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74320" y="2606040"/>
            <a:ext cx="4160520" cy="1097280"/>
          </a:xfrm>
          <a:prstGeom prst="rect">
            <a:avLst/>
          </a:prstGeom>
          <a:solidFill>
            <a:srgbClr val="162236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4320" y="2606040"/>
            <a:ext cx="73152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69748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</a:rPr>
              <a:t>03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1325880" y="26700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PySpark Transformations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38912" y="31089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Clean, deduplicate and enrich data. Derive net_sales, gross_margin and Order Value Bands. Build fact &amp; dimension tables.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709160" y="2606040"/>
            <a:ext cx="4160520" cy="1097280"/>
          </a:xfrm>
          <a:prstGeom prst="rect">
            <a:avLst/>
          </a:prstGeom>
          <a:solidFill>
            <a:srgbClr val="162236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709160" y="2606040"/>
            <a:ext cx="73152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69748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76088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</a:rPr>
              <a:t>04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5760720" y="26700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CI/CD &amp; Environment Separation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873752" y="310896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Implement Git-integrated CI/CD pipelines with automated promotion across DEV → TEST → PROD environments.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274320" y="3840480"/>
            <a:ext cx="4160520" cy="1097280"/>
          </a:xfrm>
          <a:prstGeom prst="rect">
            <a:avLst/>
          </a:prstGeom>
          <a:solidFill>
            <a:srgbClr val="162236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274320" y="3840480"/>
            <a:ext cx="73152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3931920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41248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</a:rPr>
              <a:t>05</a:t>
            </a:r>
            <a:endParaRPr lang="en-US" sz="2000" dirty="0"/>
          </a:p>
        </p:txBody>
      </p:sp>
      <p:sp>
        <p:nvSpPr>
          <p:cNvPr id="33" name="Text 26"/>
          <p:cNvSpPr/>
          <p:nvPr/>
        </p:nvSpPr>
        <p:spPr>
          <a:xfrm>
            <a:off x="1325880" y="39044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Monitoring, SLA &amp; Alerting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38912" y="43434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Configure Airflow DAG-level SLA thresholds, failure callbacks, retry escalation and a pipeline monitoring dashboard.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709160" y="3840480"/>
            <a:ext cx="4160520" cy="1097280"/>
          </a:xfrm>
          <a:prstGeom prst="rect">
            <a:avLst/>
          </a:prstGeom>
          <a:solidFill>
            <a:srgbClr val="162236"/>
          </a:solidFill>
          <a:ln w="9525">
            <a:solidFill>
              <a:srgbClr val="F4A261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709160" y="3840480"/>
            <a:ext cx="73152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3931920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276088" y="3886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</a:rPr>
              <a:t>06</a:t>
            </a:r>
            <a:endParaRPr lang="en-US" sz="2000" dirty="0"/>
          </a:p>
        </p:txBody>
      </p:sp>
      <p:sp>
        <p:nvSpPr>
          <p:cNvPr id="39" name="Text 31"/>
          <p:cNvSpPr/>
          <p:nvPr/>
        </p:nvSpPr>
        <p:spPr>
          <a:xfrm>
            <a:off x="5760720" y="390448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 Dashboards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4873752" y="434340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Deliver omni-channel analytics via Gold-layer governed views including sales overview, store performance &amp; inventory risk.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4A261"/>
                </a:solidFill>
              </a:rPr>
              <a:t>05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0F1B2D"/>
                </a:solidFill>
              </a:rPr>
              <a:t>KEY ASSUMPTIONS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</a:rPr>
              <a:t>Design decisions made to ensure a consistent, production-ready platform: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60520" cy="1115568"/>
          </a:xfrm>
          <a:prstGeom prst="rect">
            <a:avLst/>
          </a:prstGeom>
          <a:solidFill>
            <a:srgbClr val="16223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502920" cy="1115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" y="1554480"/>
            <a:ext cx="493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2893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Negative Inventory = System Sync Error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655064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When stock_on_hand &lt; 0, this is treated as a system sync error caused by simultaneous in-store and online purchases at the same second. These values are corrected to 0 rather than rejected, preserving the record while fixing the anomaly.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234440"/>
            <a:ext cx="4160520" cy="1115568"/>
          </a:xfrm>
          <a:prstGeom prst="rect">
            <a:avLst/>
          </a:prstGeom>
          <a:solidFill>
            <a:srgbClr val="1622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234440"/>
            <a:ext cx="502920" cy="11155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554480"/>
            <a:ext cx="493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03520" y="128930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Standardized Timezone = UTC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655064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All order_time data is converted to UTC regardless of the originating channel or store location. This ensures consistent global reporting and prevents timezone-based discrepancies in daily/weekly analytics aggregations.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496312"/>
            <a:ext cx="4160520" cy="1115568"/>
          </a:xfrm>
          <a:prstGeom prst="rect">
            <a:avLst/>
          </a:prstGeom>
          <a:solidFill>
            <a:srgbClr val="162236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496312"/>
            <a:ext cx="502920" cy="11155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" y="2816352"/>
            <a:ext cx="493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25511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Repeat Customer = 3rd Purchase Threshold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16936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A customer is classified as 'Repeat' only after completing their 3rd confirmed purchase. First and second purchases are labeled 'New Customer.' This creates a meaningful loyalty segmentation baseline.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496312"/>
            <a:ext cx="4160520" cy="1115568"/>
          </a:xfrm>
          <a:prstGeom prst="rect">
            <a:avLst/>
          </a:prstGeom>
          <a:solidFill>
            <a:srgbClr val="162236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496312"/>
            <a:ext cx="502920" cy="111556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2816352"/>
            <a:ext cx="493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03520" y="25511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Zero-Price Resolution — Three-Tier Hierarchy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0" y="2916936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For $0.00 unit prices: (1) Cross-reference Product Master for official selling price. (2) Retain $0.00 only for Gold-tier loyalty customers as valid promotional pricing. (3) Impute remaining zeros with the Category Average Selling Price.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758184"/>
            <a:ext cx="4160520" cy="1115568"/>
          </a:xfrm>
          <a:prstGeom prst="rect">
            <a:avLst/>
          </a:prstGeom>
          <a:solidFill>
            <a:srgbClr val="162236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758184"/>
            <a:ext cx="502920" cy="111556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3464" y="4078224"/>
            <a:ext cx="493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38130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Negative Quantities = Return Events (Retained)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178808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Negative transaction quantities (e.g. -5) are intentionally retained in the dataset as they represent legitimate Return Events. Removing them would artificially inflate net sales and distort margin calculations.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758184"/>
            <a:ext cx="4160520" cy="1115568"/>
          </a:xfrm>
          <a:prstGeom prst="rect">
            <a:avLst/>
          </a:prstGeom>
          <a:solidFill>
            <a:srgbClr val="162236"/>
          </a:solidFill>
          <a:ln w="12700">
            <a:solidFill>
              <a:srgbClr val="8FAEC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3758184"/>
            <a:ext cx="502920" cy="1115568"/>
          </a:xfrm>
          <a:prstGeom prst="rect">
            <a:avLst/>
          </a:prstGeom>
          <a:solidFill>
            <a:srgbClr val="8FAEC6"/>
          </a:solidFill>
          <a:ln w="12700">
            <a:solidFill>
              <a:srgbClr val="8FAE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4078224"/>
            <a:ext cx="4937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03520" y="381304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loyalty_status 'None/Walk-in' → Standard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4178808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Customers with no loyalty status or classified as 'Walk-in' are mapped to the 'Standard' loyalty tier. This ensures a clean comparative baseline against Gold and Silver tier customers in segmentation analysis.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4D8"/>
                </a:solidFill>
              </a:rPr>
              <a:t>06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FFFF"/>
                </a:solidFill>
              </a:rPr>
              <a:t>SOLUTION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600200" cy="1463040"/>
          </a:xfrm>
          <a:prstGeom prst="rect">
            <a:avLst/>
          </a:prstGeom>
          <a:solidFill>
            <a:srgbClr val="162236"/>
          </a:solidFill>
          <a:ln w="19050">
            <a:solidFill>
              <a:srgbClr val="8FAE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1600200" cy="320040"/>
          </a:xfrm>
          <a:prstGeom prst="rect">
            <a:avLst/>
          </a:prstGeom>
          <a:solidFill>
            <a:srgbClr val="8FAEC6"/>
          </a:solidFill>
          <a:ln w="12700">
            <a:solidFill>
              <a:srgbClr val="8FAE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B2D"/>
                </a:solidFill>
              </a:rPr>
              <a:t>SOURCE SYSTEMS</a:t>
            </a:r>
            <a:endParaRPr lang="en-US" sz="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2344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71907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EC6"/>
                </a:solidFill>
              </a:rPr>
              <a:t>POS | E-commerce | CRM | Inventory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74520" y="1554480"/>
            <a:ext cx="3657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1444752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965960" y="822960"/>
            <a:ext cx="1600200" cy="1463040"/>
          </a:xfrm>
          <a:prstGeom prst="rect">
            <a:avLst/>
          </a:prstGeom>
          <a:solidFill>
            <a:srgbClr val="162236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65960" y="822960"/>
            <a:ext cx="1600200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965960" y="822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B2D"/>
                </a:solidFill>
              </a:rPr>
              <a:t>INGESTION (ADF)</a:t>
            </a:r>
            <a:endParaRPr lang="en-US" sz="7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12344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171907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EC6"/>
                </a:solidFill>
              </a:rPr>
              <a:t>Incremental Ingestion + Metadata Logging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3566160" y="1554480"/>
            <a:ext cx="3657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1444752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657600" y="822960"/>
            <a:ext cx="1600200" cy="1463040"/>
          </a:xfrm>
          <a:prstGeom prst="rect">
            <a:avLst/>
          </a:prstGeom>
          <a:solidFill>
            <a:srgbClr val="162236"/>
          </a:solidFill>
          <a:ln w="19050">
            <a:solidFill>
              <a:srgbClr val="CD7F3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3657600" y="822960"/>
            <a:ext cx="1600200" cy="320040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3657600" y="822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B2D"/>
                </a:solidFill>
              </a:rPr>
              <a:t>BRONZE LAYER</a:t>
            </a:r>
            <a:endParaRPr lang="en-US" sz="7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12344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03320" y="171907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EC6"/>
                </a:solidFill>
              </a:rPr>
              <a:t>Raw Delta Tables partitioned by date+channel</a:t>
            </a:r>
            <a:endParaRPr lang="en-US" sz="800" dirty="0"/>
          </a:p>
        </p:txBody>
      </p:sp>
      <p:sp>
        <p:nvSpPr>
          <p:cNvPr id="23" name="Shape 16"/>
          <p:cNvSpPr/>
          <p:nvPr/>
        </p:nvSpPr>
        <p:spPr>
          <a:xfrm>
            <a:off x="5257800" y="1554480"/>
            <a:ext cx="3657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444752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5349240" y="822960"/>
            <a:ext cx="1600200" cy="1463040"/>
          </a:xfrm>
          <a:prstGeom prst="rect">
            <a:avLst/>
          </a:prstGeom>
          <a:solidFill>
            <a:srgbClr val="162236"/>
          </a:solidFill>
          <a:ln w="19050">
            <a:solidFill>
              <a:srgbClr val="C0C0C0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5349240" y="822960"/>
            <a:ext cx="1600200" cy="320040"/>
          </a:xfrm>
          <a:prstGeom prst="rect">
            <a:avLst/>
          </a:prstGeom>
          <a:solidFill>
            <a:srgbClr val="C0C0C0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5349240" y="822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B2D"/>
                </a:solidFill>
              </a:rPr>
              <a:t>SILVER LAYER</a:t>
            </a:r>
            <a:endParaRPr lang="en-US" sz="75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1234440"/>
            <a:ext cx="411480" cy="4114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94960" y="171907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EC6"/>
                </a:solidFill>
              </a:rPr>
              <a:t>Cleaned, Deduplicated &amp; Enriched data</a:t>
            </a:r>
            <a:endParaRPr lang="en-US" sz="800" dirty="0"/>
          </a:p>
        </p:txBody>
      </p:sp>
      <p:sp>
        <p:nvSpPr>
          <p:cNvPr id="30" name="Shape 21"/>
          <p:cNvSpPr/>
          <p:nvPr/>
        </p:nvSpPr>
        <p:spPr>
          <a:xfrm>
            <a:off x="6949440" y="1554480"/>
            <a:ext cx="3657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444752"/>
            <a:ext cx="201168" cy="201168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7040880" y="822960"/>
            <a:ext cx="1600200" cy="1463040"/>
          </a:xfrm>
          <a:prstGeom prst="rect">
            <a:avLst/>
          </a:prstGeom>
          <a:solidFill>
            <a:srgbClr val="162236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33" name="Shape 23"/>
          <p:cNvSpPr/>
          <p:nvPr/>
        </p:nvSpPr>
        <p:spPr>
          <a:xfrm>
            <a:off x="7040880" y="822960"/>
            <a:ext cx="1600200" cy="3200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7040880" y="822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F1B2D"/>
                </a:solidFill>
              </a:rPr>
              <a:t>GOLD LAYER</a:t>
            </a:r>
            <a:endParaRPr lang="en-US" sz="75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0" y="1234440"/>
            <a:ext cx="411480" cy="41148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7086600" y="1719072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EC6"/>
                </a:solidFill>
              </a:rPr>
              <a:t>Dimensional Model + Pre-aggregated KPIs</a:t>
            </a:r>
            <a:endParaRPr lang="en-US" sz="800" dirty="0"/>
          </a:p>
        </p:txBody>
      </p:sp>
      <p:sp>
        <p:nvSpPr>
          <p:cNvPr id="37" name="Shape 26"/>
          <p:cNvSpPr/>
          <p:nvPr/>
        </p:nvSpPr>
        <p:spPr>
          <a:xfrm>
            <a:off x="274320" y="2651760"/>
            <a:ext cx="2743200" cy="2240280"/>
          </a:xfrm>
          <a:prstGeom prst="rect">
            <a:avLst/>
          </a:prstGeom>
          <a:solidFill>
            <a:srgbClr val="1622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274320" y="2651760"/>
            <a:ext cx="27432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7432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ORCHESTRATION</a:t>
            </a:r>
            <a:endParaRPr lang="en-US" sz="90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4752" y="3054096"/>
            <a:ext cx="402336" cy="402336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365760" y="35661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EC6"/>
                </a:solidFill>
              </a:rPr>
              <a:t>Apache Airflow DAG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EC6"/>
                </a:solidFill>
              </a:rPr>
              <a:t>Ingest→Bronze→Silver→Validate→Gold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EC6"/>
                </a:solidFill>
              </a:rPr>
              <a:t>Retry | SLA | Failure Alerting</a:t>
            </a:r>
            <a:endParaRPr lang="en-US" sz="900" dirty="0"/>
          </a:p>
        </p:txBody>
      </p:sp>
      <p:sp>
        <p:nvSpPr>
          <p:cNvPr id="42" name="Shape 30"/>
          <p:cNvSpPr/>
          <p:nvPr/>
        </p:nvSpPr>
        <p:spPr>
          <a:xfrm>
            <a:off x="3291840" y="2651760"/>
            <a:ext cx="2743200" cy="2240280"/>
          </a:xfrm>
          <a:prstGeom prst="rect">
            <a:avLst/>
          </a:prstGeom>
          <a:solidFill>
            <a:srgbClr val="162236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3" name="Shape 31"/>
          <p:cNvSpPr/>
          <p:nvPr/>
        </p:nvSpPr>
        <p:spPr>
          <a:xfrm>
            <a:off x="3291840" y="2651760"/>
            <a:ext cx="2743200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4" name="Text 32"/>
          <p:cNvSpPr/>
          <p:nvPr/>
        </p:nvSpPr>
        <p:spPr>
          <a:xfrm>
            <a:off x="329184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CI/CD PIPELINE</a:t>
            </a:r>
            <a:endParaRPr lang="en-US" sz="90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2272" y="3054096"/>
            <a:ext cx="402336" cy="402336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3383280" y="35661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EC6"/>
                </a:solidFill>
              </a:rPr>
              <a:t>Git → CI (lint/test) → CD (DEV/TEST/PROD)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EC6"/>
                </a:solidFill>
              </a:rPr>
              <a:t>Manual approval gate for PROD deployment</a:t>
            </a:r>
            <a:endParaRPr lang="en-US" sz="900" dirty="0"/>
          </a:p>
        </p:txBody>
      </p:sp>
      <p:sp>
        <p:nvSpPr>
          <p:cNvPr id="47" name="Shape 34"/>
          <p:cNvSpPr/>
          <p:nvPr/>
        </p:nvSpPr>
        <p:spPr>
          <a:xfrm>
            <a:off x="6309360" y="2651760"/>
            <a:ext cx="2743200" cy="2240280"/>
          </a:xfrm>
          <a:prstGeom prst="rect">
            <a:avLst/>
          </a:prstGeom>
          <a:solidFill>
            <a:srgbClr val="162236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8" name="Shape 35"/>
          <p:cNvSpPr/>
          <p:nvPr/>
        </p:nvSpPr>
        <p:spPr>
          <a:xfrm>
            <a:off x="6309360" y="2651760"/>
            <a:ext cx="2743200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36"/>
          <p:cNvSpPr/>
          <p:nvPr/>
        </p:nvSpPr>
        <p:spPr>
          <a:xfrm>
            <a:off x="630936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2D"/>
                </a:solidFill>
              </a:rPr>
              <a:t>ANALYTICS &amp; BI</a:t>
            </a:r>
            <a:endParaRPr lang="en-US" sz="90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9792" y="3054096"/>
            <a:ext cx="402336" cy="402336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6400800" y="3566160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EC6"/>
                </a:solidFill>
              </a:rPr>
              <a:t>Power BI Dashboards via Gold-layer views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EC6"/>
                </a:solidFill>
              </a:rPr>
              <a:t>Channel Sales | Inventory | Customer Segmentation</a:t>
            </a:r>
            <a:endParaRPr lang="en-US" sz="900" dirty="0"/>
          </a:p>
        </p:txBody>
      </p:sp>
      <p:sp>
        <p:nvSpPr>
          <p:cNvPr id="52" name="Text 38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4D8"/>
                </a:solidFill>
              </a:rPr>
              <a:t>07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00B4D8"/>
                </a:solidFill>
              </a:rPr>
              <a:t>DATA PIPELINE: BRONZE → SILVER → GOLD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651760" cy="4114800"/>
          </a:xfrm>
          <a:prstGeom prst="rect">
            <a:avLst/>
          </a:prstGeom>
          <a:solidFill>
            <a:srgbClr val="162236"/>
          </a:solidFill>
          <a:ln w="25400">
            <a:solidFill>
              <a:srgbClr val="CD7F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651760" cy="411480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🥉  BRONZE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2377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Raw ingestion from: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Sales Transactions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Product Master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Store Master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Customer Data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Inventory Data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Partitioned by: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order_date  +  channel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Format: Delta Lake tables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ADF incremental watermark ingestion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6517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52928" y="3017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EC6"/>
                </a:solidFill>
              </a:rPr>
              <a:t>CLEANSE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777240"/>
            <a:ext cx="2651760" cy="4114800"/>
          </a:xfrm>
          <a:prstGeom prst="rect">
            <a:avLst/>
          </a:prstGeom>
          <a:solidFill>
            <a:srgbClr val="162236"/>
          </a:solidFill>
          <a:ln w="25400">
            <a:solidFill>
              <a:srgbClr val="C0C0C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777240"/>
            <a:ext cx="2651760" cy="411480"/>
          </a:xfrm>
          <a:prstGeom prst="rect">
            <a:avLst/>
          </a:prstGeom>
          <a:solidFill>
            <a:srgbClr val="4A4A4A"/>
          </a:solidFill>
          <a:ln w="12700">
            <a:solidFill>
              <a:srgbClr val="C0C0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46120" y="777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🥈  SILVER LAYER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83280" y="1261872"/>
            <a:ext cx="2423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Transformations applied: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Deterministic deduplication (window fn)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Null handling — customer demographics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Standardize date/time → UTC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Negative inventory → corrected to 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Zero-price resolution (3-tier logic)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Derived fields: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net_sales  |  gross_margin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Order Value Band (Low / Med / High)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824728" y="30175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EC6"/>
                </a:solidFill>
              </a:rPr>
              <a:t>ENRICH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6217920" y="777240"/>
            <a:ext cx="2651760" cy="4114800"/>
          </a:xfrm>
          <a:prstGeom prst="rect">
            <a:avLst/>
          </a:prstGeom>
          <a:solidFill>
            <a:srgbClr val="162236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777240"/>
            <a:ext cx="2651760" cy="411480"/>
          </a:xfrm>
          <a:prstGeom prst="rect">
            <a:avLst/>
          </a:prstGeom>
          <a:solidFill>
            <a:srgbClr val="B8860B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17920" y="777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🥇  GOLD LAYER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355080" y="1261872"/>
            <a:ext cx="24231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Dimensional Model: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fact_sales (master fact table)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dim_customer  |  dim_product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dim_store  |  dim_channel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90E0EF"/>
                </a:solidFill>
              </a:rPr>
              <a:t>Pre-aggregated KPIs: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Channel-wise revenue &amp; contribution%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Store-level sales &amp; inventory risk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</a:rPr>
              <a:t>Customer loyalty &amp; repeat rate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Access: SQL endpoints — Gold views only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4A261"/>
                </a:solidFill>
              </a:rPr>
              <a:t>08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0F1B2D"/>
                </a:solidFill>
              </a:rPr>
              <a:t>KEY ANALYTICAL USE CASES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88920" cy="1920240"/>
          </a:xfrm>
          <a:prstGeom prst="rect">
            <a:avLst/>
          </a:prstGeom>
          <a:solidFill>
            <a:srgbClr val="162236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7889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5953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841248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</a:rPr>
              <a:t>Omni-Channel Sales Performance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84048" y="129844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Compare revenue: Store vs Online vs Mobile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84048" y="170992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Identify channel contribution %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84048" y="212140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Detect seasonal peaks per channel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822960"/>
            <a:ext cx="2788920" cy="1920240"/>
          </a:xfrm>
          <a:prstGeom prst="rect">
            <a:avLst/>
          </a:prstGeom>
          <a:solidFill>
            <a:srgbClr val="162236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822960"/>
            <a:ext cx="278892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85953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841248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</a:rPr>
              <a:t>Product &amp; Category Insights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355848" y="129844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Top-selling products by revenue &amp; quantity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355848" y="170992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Category-wise margin analysis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355848" y="212140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Brand performance benchmarking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217920" y="822960"/>
            <a:ext cx="2788920" cy="1920240"/>
          </a:xfrm>
          <a:prstGeom prst="rect">
            <a:avLst/>
          </a:prstGeom>
          <a:solidFill>
            <a:srgbClr val="162236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822960"/>
            <a:ext cx="2788920" cy="38404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859536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75120" y="841248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</a:rPr>
              <a:t>Store Performance Analysis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327648" y="129844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Store-level revenue &amp; footfall proxy (orders)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327648" y="170992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City &amp; region performance comparison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327648" y="212140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Identify underperforming stores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274320" y="2926080"/>
            <a:ext cx="2788920" cy="1920240"/>
          </a:xfrm>
          <a:prstGeom prst="rect">
            <a:avLst/>
          </a:prstGeom>
          <a:solidFill>
            <a:srgbClr val="162236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74320" y="2926080"/>
            <a:ext cx="2788920" cy="384048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962656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1520" y="2944368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</a:rPr>
              <a:t>Customer Analytics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384048" y="340156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Repeat vs first-time customer breakdown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384048" y="381304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Loyalty tier contribution to revenue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384048" y="422452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Average Order Value by segment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246120" y="2926080"/>
            <a:ext cx="2788920" cy="1920240"/>
          </a:xfrm>
          <a:prstGeom prst="rect">
            <a:avLst/>
          </a:prstGeom>
          <a:solidFill>
            <a:srgbClr val="16223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246120" y="2926080"/>
            <a:ext cx="278892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962656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703320" y="2944368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</a:rPr>
              <a:t>Inventory Optimization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3355848" y="340156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Identify products below reorder level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3355848" y="381304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Slow-moving vs fast-moving SKUs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3355848" y="422452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Stock-out risk early warning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6217920" y="2926080"/>
            <a:ext cx="2788920" cy="1920240"/>
          </a:xfrm>
          <a:prstGeom prst="rect">
            <a:avLst/>
          </a:prstGeom>
          <a:solidFill>
            <a:srgbClr val="162236"/>
          </a:solidFill>
          <a:ln w="12700">
            <a:solidFill>
              <a:srgbClr val="8FAEC6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217920" y="2926080"/>
            <a:ext cx="2788920" cy="384048"/>
          </a:xfrm>
          <a:prstGeom prst="rect">
            <a:avLst/>
          </a:prstGeom>
          <a:solidFill>
            <a:srgbClr val="8FAEC6"/>
          </a:solidFill>
          <a:ln w="12700">
            <a:solidFill>
              <a:srgbClr val="8FAEC6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2962656"/>
            <a:ext cx="310896" cy="31089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675120" y="2944368"/>
            <a:ext cx="22677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B2D"/>
                </a:solidFill>
              </a:rPr>
              <a:t>Data Quality Monitoring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6327648" y="340156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Business rule validation dashboard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6327648" y="381304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Reject table tracking &amp; rule logging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6327648" y="422452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EC6"/>
                </a:solidFill>
              </a:rPr>
              <a:t>•  Pipeline SLA health scorecard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4A261"/>
                </a:solidFill>
              </a:rPr>
              <a:t>10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200" dirty="0">
                <a:solidFill>
                  <a:srgbClr val="0F1B2D"/>
                </a:solidFill>
              </a:rPr>
              <a:t>CI/CD PIPELINE &amp; ENVIRONMENT SEPARATION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Deployment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137160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07008"/>
            <a:ext cx="1371600" cy="320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</a:rPr>
              <a:t>Git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</a:rPr>
              <a:t>Repository</a:t>
            </a:r>
            <a:endParaRPr lang="en-US" sz="8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600200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084832"/>
            <a:ext cx="1280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EC6"/>
                </a:solidFill>
              </a:rPr>
              <a:t>notebooks/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EC6"/>
                </a:solidFill>
              </a:rPr>
              <a:t>dags/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EC6"/>
                </a:solidFill>
              </a:rPr>
              <a:t>sql/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EC6"/>
                </a:solidFill>
              </a:rPr>
              <a:t>adf_templates/</a:t>
            </a:r>
            <a:endParaRPr lang="en-US" sz="8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2039112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874520" y="1207008"/>
            <a:ext cx="137160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874520" y="1207008"/>
            <a:ext cx="1371600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874520" y="12070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</a:rPr>
              <a:t>CI Pipeline</a:t>
            </a:r>
            <a:endParaRPr lang="en-US" sz="8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9152" y="1600200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920240" y="2084832"/>
            <a:ext cx="1280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EC6"/>
                </a:solidFill>
              </a:rPr>
              <a:t>Syntax check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EC6"/>
                </a:solidFill>
              </a:rPr>
              <a:t>SQL lint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EC6"/>
                </a:solidFill>
              </a:rPr>
              <a:t>DAG validation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EC6"/>
                </a:solidFill>
              </a:rPr>
              <a:t>Unit tests</a:t>
            </a:r>
            <a:endParaRPr lang="en-US" sz="8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039112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3429000" y="1207008"/>
            <a:ext cx="1371600" cy="1828800"/>
          </a:xfrm>
          <a:prstGeom prst="rect">
            <a:avLst/>
          </a:prstGeom>
          <a:solidFill>
            <a:srgbClr val="162236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3429000" y="1207008"/>
            <a:ext cx="1371600" cy="3200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429000" y="12070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2D"/>
                </a:solidFill>
              </a:rPr>
              <a:t>CD Pipeline</a:t>
            </a:r>
            <a:endParaRPr lang="en-US" sz="8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3632" y="1600200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474720" y="2084832"/>
            <a:ext cx="1280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EC6"/>
                </a:solidFill>
              </a:rPr>
              <a:t>DEV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EC6"/>
                </a:solidFill>
              </a:rPr>
              <a:t>→ TEST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EC6"/>
                </a:solidFill>
              </a:rPr>
              <a:t>→ PROD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FAEC6"/>
                </a:solidFill>
              </a:rPr>
              <a:t>Approval gate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4709160" y="804672"/>
            <a:ext cx="0" cy="411480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937760" y="8046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</a:rPr>
              <a:t>Environment Separation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937760" y="1207008"/>
            <a:ext cx="3931920" cy="1078992"/>
          </a:xfrm>
          <a:prstGeom prst="rect">
            <a:avLst/>
          </a:prstGeom>
          <a:solidFill>
            <a:srgbClr val="162236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4937760" y="1207008"/>
            <a:ext cx="640080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937760" y="152704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DEV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669280" y="1298448"/>
            <a:ext cx="3108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EC6"/>
                </a:solidFill>
              </a:rPr>
              <a:t>Feature development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EC6"/>
                </a:solidFill>
              </a:rPr>
              <a:t>Sandbox testing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EC6"/>
                </a:solidFill>
              </a:rPr>
              <a:t>No approval gate</a:t>
            </a:r>
            <a:endParaRPr lang="en-US" sz="95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304288"/>
            <a:ext cx="182880" cy="182880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4937760" y="2441448"/>
            <a:ext cx="3931920" cy="1078992"/>
          </a:xfrm>
          <a:prstGeom prst="rect">
            <a:avLst/>
          </a:prstGeom>
          <a:solidFill>
            <a:srgbClr val="162236"/>
          </a:solidFill>
          <a:ln w="19050">
            <a:solidFill>
              <a:srgbClr val="90E0EF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4937760" y="2441448"/>
            <a:ext cx="640080" cy="107899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4937760" y="276148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TEST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5669280" y="2532888"/>
            <a:ext cx="3108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EC6"/>
                </a:solidFill>
              </a:rPr>
              <a:t>Integration testing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EC6"/>
                </a:solidFill>
              </a:rPr>
              <a:t>SQL lint &amp; DAG import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EC6"/>
                </a:solidFill>
              </a:rPr>
              <a:t>Transformation unit tests</a:t>
            </a:r>
            <a:endParaRPr lang="en-US" sz="95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38728"/>
            <a:ext cx="182880" cy="18288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4937760" y="3675888"/>
            <a:ext cx="3931920" cy="1078992"/>
          </a:xfrm>
          <a:prstGeom prst="rect">
            <a:avLst/>
          </a:prstGeom>
          <a:solidFill>
            <a:srgbClr val="162236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4937760" y="3675888"/>
            <a:ext cx="640080" cy="107899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4937760" y="39959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PROD</a:t>
            </a:r>
            <a:endParaRPr lang="en-US" sz="1600" dirty="0"/>
          </a:p>
        </p:txBody>
      </p:sp>
      <p:sp>
        <p:nvSpPr>
          <p:cNvPr id="37" name="Text 28"/>
          <p:cNvSpPr/>
          <p:nvPr/>
        </p:nvSpPr>
        <p:spPr>
          <a:xfrm>
            <a:off x="5669280" y="3767328"/>
            <a:ext cx="31089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EC6"/>
                </a:solidFill>
              </a:rPr>
              <a:t>Manual approval gate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EC6"/>
                </a:solidFill>
              </a:rPr>
              <a:t>Full SLA monitoring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FAEC6"/>
                </a:solidFill>
              </a:rPr>
              <a:t>Full alerting active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8412480" y="4663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ECC71"/>
                </a:solidFill>
              </a:rPr>
              <a:t>11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1B2D"/>
                </a:solidFill>
              </a:rPr>
              <a:t>THE IMPACT — TURNING DATA CHAOS INTO INTELLIGENCE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4A261"/>
                </a:solidFill>
              </a:rPr>
              <a:t>From Silos to a Single Source of Truth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160520" cy="1371600"/>
          </a:xfrm>
          <a:prstGeom prst="rect">
            <a:avLst/>
          </a:prstGeom>
          <a:solidFill>
            <a:srgbClr val="162236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5179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463040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Unified Data Platform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93852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EC6"/>
                </a:solidFill>
              </a:rPr>
              <a:t>All 5 data sources — Sales, Product, Store, Customer, Inventory — integrated into a single governed Delta Lake platform.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4160520" cy="1371600"/>
          </a:xfrm>
          <a:prstGeom prst="rect">
            <a:avLst/>
          </a:prstGeom>
          <a:solidFill>
            <a:srgbClr val="162236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517904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67528" y="1463040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Real-Time Confidence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73752" y="193852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EC6"/>
                </a:solidFill>
              </a:rPr>
              <a:t>Near real-time ingestion ensures merchandising &amp; ops teams make decisions on fresh data, not stale weekly reports.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38912" y="344728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5367528" y="2971800"/>
            <a:ext cx="33649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873752" y="3447288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274320" y="4800600"/>
            <a:ext cx="8686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EC6"/>
                </a:solidFill>
              </a:rPr>
              <a:t>HEXAWARE  |  Lakshya S  |  Capstone Project — Cloud-Native OmniChannel Retail Analytics Platform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412480" y="44348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0B4D8"/>
                </a:solidFill>
              </a:rPr>
              <a:t>12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1757</Words>
  <Application>Microsoft Office PowerPoint</Application>
  <PresentationFormat>On-screen Show (16:9)</PresentationFormat>
  <Paragraphs>293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Cloud-Native OmniChannel Retail Analytics Platform</dc:title>
  <dc:subject>PptxGenJS Presentation</dc:subject>
  <dc:creator>PptxGenJS</dc:creator>
  <cp:lastModifiedBy>DELL</cp:lastModifiedBy>
  <cp:revision>5</cp:revision>
  <dcterms:created xsi:type="dcterms:W3CDTF">2026-04-04T19:21:15Z</dcterms:created>
  <dcterms:modified xsi:type="dcterms:W3CDTF">2026-04-10T21:44:26Z</dcterms:modified>
</cp:coreProperties>
</file>